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64FC2"/>
                </a:solidFill>
                <a:latin typeface="微软雅黑"/>
                <a:ea typeface="微软雅黑"/>
              </a:rPr>
              <a:t>认识你自己 | Know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F2733"/>
                </a:solidFill>
                <a:latin typeface="微软雅黑"/>
                <a:ea typeface="微软雅黑"/>
              </a:rPr>
              <a:t>市场资料汇总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688"/>
                </a:solidFill>
                <a:latin typeface="微软雅黑"/>
                <a:ea typeface="微软雅黑"/>
              </a:rPr>
              <a:t>全球心理测评 × 中国泛心理市场 × 竞品与战略启示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1645920" cy="45720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688"/>
                </a:solidFill>
                <a:latin typeface="微软雅黑"/>
                <a:ea typeface="微软雅黑"/>
              </a:rPr>
              <a:t>2026-09-16 · 基于仓库内部文档与公开检索数据 · 来源逐条标注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55464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$61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全球心理测量市场 2025（B2C ~$9 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47091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4855464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1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亿+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全球人格测试平台月独立访客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091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¥1242.5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中国心理健康服务市场 2025E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47091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9" y="4855464"/>
            <a:ext cx="228600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47.4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抖音 #mbti 话题播放量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knowyourself.cc.cd · github.com/11suixing11/know-yourself ·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67128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85415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项目定位速览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产品形态 · 差异化 · 北极星指标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67128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185415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全球市场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65176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心理测量大盘 · B2C 流量格局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47288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48456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6674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中国市场与 MBTI 热度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33087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大盘规模 · 政策 · 社媒数据 · 商业转化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47288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48456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66674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竞品格局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133087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中国头部 · 国际标杆 · 开源领域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28616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9784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48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变现与用户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614416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行业价目表 · 用户画像与付费行为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28616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129784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64FC2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1480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733"/>
                </a:solidFill>
                <a:latin typeface="微软雅黑"/>
                <a:ea typeface="微软雅黑"/>
              </a:rPr>
              <a:t>风险与战略启示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614416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688"/>
                </a:solidFill>
                <a:latin typeface="微软雅黑"/>
                <a:ea typeface="微软雅黑"/>
              </a:rPr>
              <a:t>风险清单 · 定位/增长/变现/风控建议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六个关键结论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201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赛道盘子真实：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全球心理测量市场 2025 约 $61 亿（B2C ~$9 亿），人格测试平台月独立访客合计 1 亿+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供给被垄断：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16Personalities 约 3000 万月访问 / 15.7 亿次累计测试；估算年收入 $15–25M、员工 &lt;20 人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中国 MBTI 现象级：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抖音 #mbti 47.4 亿播放、微博话题 46.4 亿阅读、小红书笔记 40 万+ 条、2023Q2 话题浏览量环比 +4239%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大盘高速增长：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中国心理健康服务市场 2025E ¥1242.5 亿（约 +11%）；泛心理窄口径 2020–2025 CAGR 27%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付费意愿已验证：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90%+ 用户愿为心理内容付费；海外报告 $29–69 / 本土解锁 ¥2.98–100、人均咨询花费 5000+/年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50" b="1">
                <a:solidFill>
                  <a:srgbClr val="1F2733"/>
                </a:solidFill>
                <a:latin typeface="微软雅黑"/>
                <a:ea typeface="微软雅黑"/>
              </a:rPr>
              <a:t>空白定位成立：</a:t>
            </a:r>
            <a:r>
              <a:rPr sz="1350" b="0">
                <a:solidFill>
                  <a:srgbClr val="1F2733"/>
                </a:solidFill>
                <a:latin typeface="微软雅黑"/>
                <a:ea typeface="微软雅黑"/>
              </a:rPr>
              <a:t>行业普遍“止步标签、引流咨询”；本项目“结果 → 可回访观察 → 私密连续性”路径无直接对标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01 项目定位速览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一个安静的双语自我反思社区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来源：README.md / PRODUCT.md / MARKETING.md（仓库 2026-09 现行版）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产品与内容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认识你自己 v0.2.1 · 中英双语自我反思社区（测评 + 文字 / 图像分享）
16 条公开测评路线（type / dimensions / score 三类评分）· 193 个内部模块待分批审阅 · 4 条结果图像试点（20 张 WebP）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差异化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32888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游客数据本地优先（浏览器 know-yourself:v3）· 札记默认私密 · 不可变公开修订 · EXIF / GPS / 原图全清除 · 举报自动隐藏 + 管理员治理 · 无广告无追踪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78808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用户与北极星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45736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目标用户：中文首访者为主（人格 / 情绪 / 关系 / 工作 / 日常的具体问题）
北极星指标：28 天有意义回访率（完成测评 + 至少一次有意的私有后续动作）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78808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616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现状与边界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45736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微软雅黑"/>
                <a:ea typeface="微软雅黑"/>
              </a:rPr>
              <a:t>无行为漏斗基线 · 零商业化 · 无使用数据（PRODUCT.md 明确承认）
明确不做：临床诊断话术、AI 生成解读、通用社交网络
knowyourself.cc.cd · GitHub 11suixing11/know-yourself · 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02 全球市场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四条相关赛道都在长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来源：JobCannon 2026 / FMI / Roots Analysis / MRFR / Straits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19659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2331720" cy="1673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$61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全球心理测量市场 2025
2022 $48 亿 · CAGR 8.3%
B2B $52 亿 / B2C ~$9 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697480" cy="19659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20824"/>
            <a:ext cx="2331720" cy="1673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$116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人格测评解决方案 2025
FMI → 2035 $377 亿 · CAGR 12.5%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2697480" cy="19659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20824"/>
            <a:ext cx="2331720" cy="1673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$85.4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Mental Health Apps 2025
→ 2035 $335 亿 · CAGR 14.7%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697480" cy="19659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20824"/>
            <a:ext cx="2331720" cy="1673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$57–61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Digital Journal Apps 2025
CAGR 9.6–11.5% · 亚太份额 37.2% 第一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1201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MBTI 相关市场有汇总称 2033 年达 </a:t>
            </a:r>
            <a:r>
              <a:rPr sz="1300" b="1">
                <a:solidFill>
                  <a:srgbClr val="364FC2"/>
                </a:solidFill>
                <a:latin typeface="微软雅黑"/>
                <a:ea typeface="微软雅黑"/>
              </a:rPr>
              <a:t>$300 亿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（含企业采用，二级汇编，可信度中等）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变现经济学对比：广告 ARPU 仅 </a:t>
            </a:r>
            <a:r>
              <a:rPr sz="1300" b="1">
                <a:solidFill>
                  <a:srgbClr val="364FC2"/>
                </a:solidFill>
                <a:latin typeface="微软雅黑"/>
                <a:ea typeface="微软雅黑"/>
              </a:rPr>
              <a:t>$0.01–0.05 / 每次测试完成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；报告销售单活跃用户收入高 </a:t>
            </a:r>
            <a:r>
              <a:rPr sz="1300" b="1">
                <a:solidFill>
                  <a:srgbClr val="364FC2"/>
                </a:solidFill>
                <a:latin typeface="微软雅黑"/>
                <a:ea typeface="微软雅黑"/>
              </a:rPr>
              <a:t>500–5000 倍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，但属单次购买经济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16P 广告收入参考：15 亿次完成 15 年累计广告收入估算仅 $75–150M —— 纯测评不做后续，没有留存生意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02 全球市场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B2C 流量：1 亿+ 月访客的盘子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来源：JobCannon《The State of Online Personality Testing 2026》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612648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960120"/>
                <a:gridCol w="237744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流量占比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主导平台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关键语言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北美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32%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 · Truity · IDRLabs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英语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欧洲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26%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 · 123test · TestColor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英 / 荷 / 法 / 德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亚太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24%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 · PDB · Boo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韩 / 日 / 中 / 印地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拉美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11%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 · IDRLabs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西 / 葡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中东非洲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7%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阿拉伯 / 土耳其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1874519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020824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364FC2"/>
                </a:solidFill>
                <a:latin typeface="微软雅黑"/>
                <a:ea typeface="微软雅黑"/>
              </a:rPr>
              <a:t>1</a:t>
            </a: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亿+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1F2733"/>
                </a:solidFill>
                <a:latin typeface="微软雅黑"/>
                <a:ea typeface="微软雅黑"/>
              </a:rPr>
              <a:t>全球人格测试平台月独立访客合计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926079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3072384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364FC2"/>
                </a:solidFill>
                <a:latin typeface="微软雅黑"/>
                <a:ea typeface="微软雅黑"/>
              </a:rPr>
              <a:t>$0.01–0.05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1F2733"/>
                </a:solidFill>
                <a:latin typeface="微软雅黑"/>
                <a:ea typeface="微软雅黑"/>
              </a:rPr>
              <a:t>广告 ARPU / 每次测试完成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977639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123944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364FC2"/>
                </a:solidFill>
                <a:latin typeface="微软雅黑"/>
                <a:ea typeface="微软雅黑"/>
              </a:rPr>
              <a:t>500–5000</a:t>
            </a: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×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1F2733"/>
                </a:solidFill>
                <a:latin typeface="微软雅黑"/>
                <a:ea typeface="微软雅黑"/>
              </a:rPr>
              <a:t>报告销售相对广告的单用户收入倍数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5120640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200" b="0">
                <a:solidFill>
                  <a:srgbClr val="1F2733"/>
                </a:solidFill>
                <a:latin typeface="微软雅黑"/>
                <a:ea typeface="微软雅黑"/>
              </a:rPr>
              <a:t>亚太无本土垄断者：16P / PDB / Boo 均为外来者 → 中文市场双语出海成立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03 中国市场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大盘高速增长，渗透率是最大故事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来源：观知海内咨询 / 远瞻慧库 / 界面新闻 / 行业统计（口径详见附录）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¥1242.5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心理健康服务市场 2025E
约 +11% · 2020 年为 480 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¥104.1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泛心理线上服务 2025
2020–2025 CAGR 27%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3.14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万家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心理咨询企业注册量
同比 +60.2%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1/50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/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中美人均心理消费差
$560 vs $11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201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求助率鸿沟：患病率接近（18.1% vs 17.5%），但求助率 40% vs 8% —— </a:t>
            </a:r>
            <a:r>
              <a:rPr sz="1300" b="1">
                <a:solidFill>
                  <a:srgbClr val="364FC2"/>
                </a:solidFill>
                <a:latin typeface="微软雅黑"/>
                <a:ea typeface="微软雅黑"/>
              </a:rPr>
              <a:t>不求助的 92% 由轻量自助工具（测评 / 札记）承接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政策：《健康中国行动 2019–2030》心理健康素养 30% 目标；《互联网心理服务心理测评服务通用规范》国标起草中（壹心理参与）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历史数据：2018 年人均心理咨询花费 5000+ 元/年；精神类服务电商用户 2018 年 2000 万 → 2019E 4000 万（艾媒）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03 中国市场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MBTI：现象级社交流量题材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来源：36氪 / 千瓜数据 / 中广协 / 澎湃 / 心理中国（2022–2024 报道）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47.4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抖音 #mbti 播放量
另有统计口径达 55 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46.4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微博话题总阅读量
“为 i 做 e”等热词常态化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36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亿+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小红书相关浏览量
相关笔记 40 万+ 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697480" cy="1874519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20824"/>
            <a:ext cx="2331720" cy="15819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+4239.67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%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2023Q2 小红书 #MBTI
浏览量环比（千瓜数据）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1201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细分话题：#mbtimeme 40.5 亿 · #万物皆可MBTI 26 亿 · #mbti人类图鉴 18.5 亿 · #mbti人格测试 6.2 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引爆点：百度指数 2022-04 峰值（谷爱凌自曝 INTJ）；2023 年“新题库”传闻引发全网复测潮；“你是 INFJ 还是 INFP？”成为社交破冰语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社群沉淀：豆瓣 INFP 的淡色彼岸 11.4 万组员 · 个体成长心理MBTI 5.1 万 · MBTI中心站 2.1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03 中国市场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MBTI：已被验证的商业转化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来源：人民网中国城市报 / 中广协 / 新浪财经 / 心理中国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付费解锁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电商 / 公众号售卖测试题与解析：¥2.98 / 9.9 / 19.9 元……单链接付款 1000+ 人
解锁门槛 = 付费 / 关注公众号 / 看广告，费用几元到百元
更有测试后购买“专家解读咨询”（每小时数百元）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品牌联名破圈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32888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海底捞 i 人 / e 人等位分区（2023-10 微博热搜）
溜溜梅口味系列 · 进博会进宝盲盒 · KEENO 盲盒（抖音 156 万赞）
曼秀雷敦“MBTI 痘格” · 沪上阿姨 · 淘宝极有家 16 人格家居图鉴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78808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大盘参照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45736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泛神秘学（占卜 / 星座 / 算命）：付费用户约 16%、年均最低消费约 1000 元
合计超 1000 亿元市场 —— MBTI 是其中“有心理学背书”的新入口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78808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616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舆论风险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45736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“快速贴标签”批评（北师大心理学教授）· MBTI 鄙视链（智商链 / 成就链）
官媒“警惕沉迷”讨论 · 测试成瘾与身份固化的担忧 —— 印证本项目反标签化设计的价值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04 竞品格局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中国头部玩家：内容 - 测评 - 咨询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来源：壹心理官网/百度百科 / 36氪项目库 / 投资界 / App Store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201399" cy="3986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749039"/>
                <a:gridCol w="2834640"/>
                <a:gridCol w="3063240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公司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关键数据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商业模式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资本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
(2011 · 广州)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品牌用户 5300 万+ · 覆盖 147 国
年营收约 3 亿元 · 估值 6.5 亿
测评 2000+ · 咨询师 700+（甄选率 ≤2%）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咨询抽成 + 课程/测评付费 + 会员
+ EAP + API 输出（给亲子/情感 App）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北极光 → 赛富 $1000 万 → 头头是道 → 枫海
行业唯一 B 轮代表 · 国标起草单位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KnowYourself
知我探索 (2015)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全网粉丝 2000 万+ · 用户近 1000 万
月食 App 内测期自然流量 5 万注册
一二线城市女性高知 · 单篇阅读 50–100 万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心理教育 · 测评 · 聊愈（文本轻咨询）
新冥想/每日练习 · 城市修行线下工作坊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平安创投 → 真格 → 斯道+海纳亚洲
→ 腾讯 B 轮（数千万美元 2022-03）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壹点灵
(2015 · 上海)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用户 6000 万+ · 174 国
累计服务 900 万+ 人次 · 咨询师 6000+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咨询抽佣 30% + 咨询师培训
+ 付费课程/测评 + 广告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天使 500 万 → Pre-A 1000 万 → A 比邻星/约印
→ A++ 元生创投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其他玩家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简单心理 · 好心情（天使轮 5000 万）· 青音 · 暖心壹疗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精神科诊疗 / 轻咨询等细分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98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64% 企业集中在天使 / Pre-A / A 轮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989320"/>
            <a:ext cx="11201400" cy="384048"/>
          </a:xfrm>
          <a:prstGeom prst="roundRect">
            <a:avLst>
              <a:gd name="adj" fmla="val 30000"/>
            </a:avLst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64FC2"/>
                </a:solidFill>
                <a:latin typeface="微软雅黑"/>
                <a:ea typeface="微软雅黑"/>
              </a:rPr>
              <a:t>共性：测评不是终点生意，是漏斗第一环 —— 引流到咨询 / 课程 / 会员才是现金流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04 竞品格局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共性公式与错位机会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来源：壹心理 / KY / 壹点灵 公开资料综合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429000" cy="15544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① 内容矩阵获客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060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公众号 / 视频号 / 知乎长文
KY 靠论文式长文做到 2000 万粉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331720"/>
            <a:ext cx="411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64FC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29000" cy="15544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② 测评 = 低门槛钩子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6060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免费或几元测试引流
壹心理测评收入曾年增 400%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331720"/>
            <a:ext cx="411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64FC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429000" cy="1554480"/>
          </a:xfrm>
          <a:prstGeom prst="roundRect">
            <a:avLst>
              <a:gd name="adj" fmla="val 9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③ 咨询 / 课程 / 会员变现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6060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F2733"/>
                </a:solidFill>
                <a:latin typeface="微软雅黑"/>
                <a:ea typeface="微软雅黑"/>
              </a:rPr>
              <a:t>人均咨询 5000+/年 · 抽佣 30%
千元级课程 + 订阅会员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201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测评即基础设施：壹心理通过 API 把测试输出给亲子 / 情感 / 职场类 App —— 测评能力本身可以 B2B2C 变现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KY 路径：内容用户 → 聊愈 / 每日练习订阅服务；月食 App 对标 Keep 轻课（15–20 分钟锻炼情绪）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对本项目：不做咨询 = 避开 3 亿营收玩家的主战场；“结果 → 观察 → 私密连续性”错位共存，保留全部未来变现选项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04 竞品格局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国际标杆：精品站模式的胜利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来源：JobCannon / 16personalities.com / 经理人杂志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046988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188720"/>
                <a:gridCol w="3017520"/>
                <a:gridCol w="306324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平台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月流量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测试规模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变现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成立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~3000 万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15.7 亿次累计 · 14.9 万/日
91.2% 准确率评分 · 30+ 语言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广告 + Premium $33/年
估算 $15–25M/年（&lt;20 员工）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2011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Personality Database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~750 万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社区投票式（PDB）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广告 + Premium $4.99/月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2015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Truity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~630 万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15+ 框架 · 2 亿+ 次完成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付费报告 $29–69 + 广告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2012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其他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IDRLabs · 123test · TestColor · Boo · Psychology.com（32 题 / 6 分钟）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广告为主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94960"/>
            <a:ext cx="11201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200" b="0">
                <a:solidFill>
                  <a:srgbClr val="1F2733"/>
                </a:solidFill>
                <a:latin typeface="微软雅黑"/>
                <a:ea typeface="微软雅黑"/>
              </a:rPr>
              <a:t>16P 已切入企业市场（Team Assessments）；MBTI 官方：每年约 200 万人完成官方测评、报告 £30–75/份、88% Fortune 500 采用（供方口径）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05 变现与用户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变现模式全景与行业价目表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来源：JobCannon / 壹心理 / 壹点灵 / JobCannon 定价页 综合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201400" cy="4151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572000"/>
                <a:gridCol w="42519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模式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代表玩家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价位 / 量级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付费解锁报告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Truity · 国内 H5 / 公众号测试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$29–69 / ¥2.98–100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订阅 Premium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16Personalities · PDB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$33/年 · $4.99/月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广告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多数免费测试站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$0.01–0.05 / 每次完成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测评 → 咨询转化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 · 壹点灵 · KY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人均 5000+/年 · 抽佣 30%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课程与培训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壹心理朝阳计划 · 壹点灵咨询师培训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千元级课程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会员体系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壹心理冥想星球 / 读书会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订阅制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EAP / 学校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 · JobCannon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$29/mo/组织 · $2–3/学生/年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品牌 IP 联名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海底捞 · 溜溜梅 · 进博会盲盒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授权 / 营销费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本项目现状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零商业化 · 无广告 · 无付费墙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启动时行业价目表可直接参考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05 变现与用户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用户画像与消费行为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来源：壹点灵平台数据 / KY 定位 / 壹点灵行业调研 / 36氪新消费研究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0824"/>
            <a:ext cx="2331720" cy="1627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90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%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心理咨询人群集中在 20–40 岁
（壹点灵平台数据）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20824"/>
            <a:ext cx="2331720" cy="1627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90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%+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用户愿为心理内容付费
诉求：亲密关系 &gt; 情绪压力 &gt; 人际 &gt; 原生家庭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20824"/>
            <a:ext cx="2331720" cy="1627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8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%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中国患者求助率（美国 40%）
患病率接近：18.1% vs 17.5%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20824"/>
            <a:ext cx="2331720" cy="1627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364FC2"/>
                </a:solidFill>
                <a:latin typeface="微软雅黑"/>
                <a:ea typeface="微软雅黑"/>
              </a:rPr>
              <a:t>92</a:t>
            </a:r>
            <a:r>
              <a:rPr sz="1600" b="0">
                <a:solidFill>
                  <a:srgbClr val="364FC2"/>
                </a:solidFill>
                <a:latin typeface="微软雅黑"/>
                <a:ea typeface="微软雅黑"/>
              </a:rPr>
              <a:t>%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1F2733"/>
                </a:solidFill>
                <a:latin typeface="微软雅黑"/>
                <a:ea typeface="微软雅黑"/>
              </a:rPr>
              <a:t>不求助人群 —— 轻量自助工具
（测评 / 札记）的目标盘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11201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画像：一二线城市女性高知为主（KY 主力用户）；深夜阅读、情绪 / 关系 / 自我认知类长文最易爆款（单篇 50–100 万阅读）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Z 世代：标签 = 社交货币，为身份与归属感付费 —— 身份消费取代需求消费（参照谷子经济：泛二次元 5.2 亿人 · 周边 1600 亿）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消费逻辑：“我是谁 / 我们是谁”的圈层凭证；测试结果本身就是可分享、可讨论的内容资产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04 竞品格局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开源领域：无直接对标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8"/>
                </a:solidFill>
                <a:latin typeface="微软雅黑"/>
                <a:ea typeface="微软雅黑"/>
              </a:rPr>
              <a:t>来源：GitHub topics self-discovery / mbti-test / personality-test（2026-09 快照）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201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典型项目均为 2–9 星玩具级：React / Vite / Laravel 的 MBTI 单测站 · SBTI 娱乐衍生（“洛克王国本命精灵”）· live quiz 答题器工具（pblive / jovVix / quiz-mate）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没有任何项目同时具备：双语 + 本地优先 + 测评目录 + 社区 Feed + 图像札记 + 隐私治理 —— “生产级开源参考”叙事成立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本项目已进入 GitHub self-discovery 话题检索结果（topics 完整覆盖：self-reflection / local-first / privacy-first / bilingual）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80560"/>
            <a:ext cx="11201400" cy="155448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结论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F2733"/>
                </a:solidFill>
                <a:latin typeface="微软雅黑"/>
                <a:ea typeface="微软雅黑"/>
              </a:rPr>
              <a:t>开源人群 ≠ 心理测评目标用户：GitHub 流量对 C 端获客贡献有限，价值在技术口碑与长尾 SEO（16P 类关键词的开发者内容缺口）；真实获客仍靠社媒内容与搜索。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06 风险与战略启示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风险与合规清单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201399" cy="4315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977639"/>
                <a:gridCol w="50749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事实依据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对本项目的含义</a:t>
                      </a:r>
                    </a:p>
                  </a:txBody>
                  <a:tcPr marL="91440" marR="73152" marT="27432" marB="27432" anchor="ctr">
                    <a:solidFill>
                      <a:srgbClr val="364FC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16P 品牌壁垒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15.7 亿次测试 · 91.2% 口碑 · 30+ 语言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同框架硬刚不可行，需错位（隐私 / 社区 / 札记 / 中文深耕）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头部资本与内容优势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壹心理年营收约 3 亿 · KY 腾讯 B 轮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不做咨询即避开其主战场，错位共存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MBTI 科学性质疑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学界批评 + 鄙视链 + 官媒“警惕沉迷”讨论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印证反标签化 / 反身份固化设计；文案持续克制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测评服务国标化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《互联网心理服务心理测评服务通用规范》起草中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长期利好合规玩家；“结果 = 观察而非诊断”边界保持显眼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隐私法规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PIPL / 个保法趋严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EXIF 清除 · 默认私密 · 限流键哈希化已超行业标准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数据基线缺失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PRODUCT.md 自认无漏斗数据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2733"/>
                          </a:solidFill>
                          <a:latin typeface="微软雅黑"/>
                          <a:ea typeface="微软雅黑"/>
                        </a:rPr>
                        <a:t>一切增长决策前，先按 7 项指标建立基线</a:t>
                      </a:r>
                    </a:p>
                  </a:txBody>
                  <a:tcPr marL="91440" marR="73152" marT="27432" marB="27432" anchor="ctr"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06 风险与战略启示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战略启示：定位 · 增长 · 变现 · 风控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F2733"/>
                </a:solidFill>
                <a:latin typeface="微软雅黑"/>
                <a:ea typeface="微软雅黑"/>
              </a:rPr>
              <a:t>全行业最缺“结果 → 可回访观察 → 私密连续性”的中间层
测评有流量但纯测评无留存（广告 ARPU $0.01–0.05 佐证）
双语 × 亚太成立：人格测试亚太流量 24% · 日记 App 亚太份额 37.2%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391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0487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F2733"/>
                </a:solidFill>
                <a:latin typeface="微软雅黑"/>
                <a:ea typeface="微软雅黑"/>
              </a:rPr>
              <a:t>小红书 / 知乎 MBTI 与依恋风格类内容（免费流量已验证）
SEO：中文“MBTI 测试”结果页被付费解锁站占据，“免费 + 无需注册 + 本地优先”有体验差异空间
开发者渠道文章已备稿（DEV.to / 掘金）；193 模块 = 可持续发布节奏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79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变现（若启动）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4515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F2733"/>
                </a:solidFill>
                <a:latin typeface="微软雅黑"/>
                <a:ea typeface="微软雅黑"/>
              </a:rPr>
              <a:t>参考价目：报告 ¥9.9–99 / $29–69 · 订阅 $33/年档位
结果图像与完整解读 = 天然付费点；隐私与“不泄题”可支撑溢价
长尾候选：EAP / 学校（$2–3/学生/年 已跑通）、API 输出（壹心理先例）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79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4FC2"/>
                </a:solidFill>
                <a:latin typeface="微软雅黑"/>
                <a:ea typeface="微软雅黑"/>
              </a:rPr>
              <a:t>风控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45152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F2733"/>
                </a:solidFill>
                <a:latin typeface="微软雅黑"/>
                <a:ea typeface="微软雅黑"/>
              </a:rPr>
              <a:t>与国标方向天然对齐（非临床 · 数据最小化已满足）
守住“不宣称临床 / 不编造数据”红线 —— 行业里夸大科学性者正是舆论反噬的靶子
先建立行为漏斗基线，再谈规模化投入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733"/>
                </a:solidFill>
                <a:latin typeface="微软雅黑"/>
                <a:ea typeface="微软雅黑"/>
              </a:rPr>
              <a:t>数据来源与口径说明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1463040" cy="41148"/>
          </a:xfrm>
          <a:prstGeom prst="rect">
            <a:avLst/>
          </a:prstGeom>
          <a:solidFill>
            <a:srgbClr val="36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201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1F2733"/>
                </a:solidFill>
                <a:latin typeface="微软雅黑"/>
                <a:ea typeface="微软雅黑"/>
              </a:rPr>
              <a:t>行业报告：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JobCannon《The State of Online Personality Testing 2026》· Future Market Insights · Roots Analysis · Market Research Future / Straits Research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1F2733"/>
                </a:solidFill>
                <a:latin typeface="微软雅黑"/>
                <a:ea typeface="微软雅黑"/>
              </a:rPr>
              <a:t>一手数据：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16personalities.com · 壹心理官网 / 百度百科 · 壹点灵 App Store 页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1F2733"/>
                </a:solidFill>
                <a:latin typeface="微软雅黑"/>
                <a:ea typeface="微软雅黑"/>
              </a:rPr>
              <a:t>媒体报道：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36氪 · 澎湃新闻 · 人民网《中国城市报》· 界面新闻 · 爱分析 · 投资界 · 中广协文创 IP 专委会 · 心理中国 · 观知海内 · 远瞻慧库 · 经理人杂志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1F2733"/>
                </a:solidFill>
                <a:latin typeface="微软雅黑"/>
                <a:ea typeface="微软雅黑"/>
              </a:rPr>
              <a:t>开源检索：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GitHub topics：self-discovery / mbti-test / personality-test（2026-09 快照）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364FC2"/>
                </a:solidFill>
                <a:latin typeface="微软雅黑"/>
                <a:ea typeface="微软雅黑"/>
              </a:rPr>
              <a:t>▪  </a:t>
            </a:r>
            <a:r>
              <a:rPr sz="1300" b="1">
                <a:solidFill>
                  <a:srgbClr val="1F2733"/>
                </a:solidFill>
                <a:latin typeface="微软雅黑"/>
                <a:ea typeface="微软雅黑"/>
              </a:rPr>
              <a:t>口径提醒：</a:t>
            </a:r>
            <a:r>
              <a:rPr sz="1300" b="0">
                <a:solidFill>
                  <a:srgbClr val="1F2733"/>
                </a:solidFill>
                <a:latin typeface="微软雅黑"/>
                <a:ea typeface="微软雅黑"/>
              </a:rPr>
              <a:t>市场规模各机构口径差异大（心理健康服务 vs 泛心理 vs 线上测评），引用时连同口径一起使用；“估算”数字（16P 收入 · 广告 ARPU）为第三方推断而非官方披露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577840"/>
            <a:ext cx="11201400" cy="640080"/>
          </a:xfrm>
          <a:prstGeom prst="roundRect">
            <a:avLst>
              <a:gd name="adj" fmla="val 25000"/>
            </a:avLst>
          </a:prstGeom>
          <a:solidFill>
            <a:srgbClr val="E7E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4FC2"/>
                </a:solidFill>
                <a:latin typeface="微软雅黑"/>
                <a:ea typeface="微软雅黑"/>
              </a:rPr>
              <a:t>完整数据与逐条来源见仓库根目录 MARKET_RESEARCH.md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830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—— 把此刻的观察留给可能懂你的人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830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认识你自己 | Know Yourself · 市场资料汇总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微软雅黑"/>
                <a:ea typeface="微软雅黑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